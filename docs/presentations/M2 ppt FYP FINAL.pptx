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10" r:id="rId4"/>
    <p:sldId id="259" r:id="rId5"/>
    <p:sldId id="304" r:id="rId6"/>
    <p:sldId id="305" r:id="rId7"/>
    <p:sldId id="306" r:id="rId8"/>
    <p:sldId id="307" r:id="rId9"/>
    <p:sldId id="308" r:id="rId10"/>
    <p:sldId id="258" r:id="rId11"/>
    <p:sldId id="309" r:id="rId12"/>
    <p:sldId id="260" r:id="rId13"/>
    <p:sldId id="261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5" r:id="rId25"/>
    <p:sldId id="297" r:id="rId26"/>
    <p:sldId id="295" r:id="rId27"/>
    <p:sldId id="296" r:id="rId28"/>
    <p:sldId id="298" r:id="rId29"/>
    <p:sldId id="299" r:id="rId30"/>
    <p:sldId id="300" r:id="rId31"/>
    <p:sldId id="301" r:id="rId32"/>
    <p:sldId id="302" r:id="rId33"/>
    <p:sldId id="303" r:id="rId3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D7AA3-C80A-4B9C-A40B-0D5EFE6B3CD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28381-48E5-4AF0-A372-B6BF3A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7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28381-48E5-4AF0-A372-B6BF3AF411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7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09F9-910F-53BB-6463-EDC4FDAF8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3A94B-E539-0430-4A34-1CAE77382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DD7B9-5DE0-48BD-9F22-7A8304BC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4B6E5-6DD5-8093-C123-3A4E7D97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740D-C85E-A71B-F133-C9582BB1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200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F903-C8AA-877E-9A95-9247F6A9C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4194D-70C1-8F29-E8B9-AA8E413D7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C5A14-25E5-7A7D-59EC-E27E1BC1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E8B0-077D-4E07-6366-D4DC589A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D3DC-3EC3-D658-2B7E-DE48AA4B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789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28E8-7FBE-382D-1298-8B8C571B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95394-6091-671B-4145-868E1435C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7C981-C59C-E285-7FA9-412B8736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85DA8-A87A-1377-2A8E-78BF0B13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71C50-5E6F-FE9E-B605-663609B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876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4A83-F223-7ED5-919C-A67F67C0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BC6D1-A8E9-9A9F-74E9-99B95EEED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CEBB6-79CF-7D1A-CD94-96B0F176D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4DE0B-4431-3990-BE32-571AC7DD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0970F-46DF-6C2E-C474-B3306E16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395DD-32BB-A584-67CA-A8868CF8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369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8F19-C24A-CE0A-2435-8C72ED62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46F25-ADC3-CAD2-FD52-B37E7EC5A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10C3F-D961-19D4-3B3D-F5A6F290E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1A3BB-8E90-BFE6-C291-02E70EB55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E433A-7400-A502-5064-50790E67E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59830-55D5-5A49-EAE1-AC738E3B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31031-87AC-416C-1188-2FB9279D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A7CB3-E04A-AAE6-B3A0-9CCCD825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7047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D8B84-72B3-296B-82E1-9F8C3627F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15972-F535-4F94-A532-7B7BE614E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5AE05-C7C7-5A61-FA1A-E5C68084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FA1C8-746C-CDFF-5C74-1D6F4EC1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895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537897-A41C-CD3A-8200-BAB4CE5F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93E69-2A83-0C67-2D23-8A94AE06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5EA21-E5C6-95E0-8183-57DC7BF1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957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F337-C3E3-060B-BABE-C692604C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AC77-8188-CE5E-08EB-D77B5A5DC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CD8A4-2360-699E-E6A3-BA51279B6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96B93-CC0C-367F-5A09-57A1FEAF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357BF-AF5E-1966-DFE7-8D8FA42C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E26D-911F-96F7-ABAC-6F8C8199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2057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20FC-87B4-3F57-9453-6C8F690FB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E7FE61-F615-D354-4F8B-22CE4352D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3F5EB-6441-2B51-7C6B-9ED9AAF0E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D8542-BE08-109A-6AA8-602F065B8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15AE4-0035-AF5B-617F-0D1A9E62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EBE2E-7D0E-4DEC-682D-15CA3383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93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1A87-4FA3-2A5E-8C1E-9CA4F990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4FF66-57A6-1ACB-8CF6-ED7E5B5F5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5301B-ADAE-8CD7-6B27-7DF9D71A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B1989-53D7-C6E9-6828-E2963044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4C888-482F-C364-AF67-22C6528A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1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8DB51-13D7-667F-2BBA-B2B74E1AB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9245F-3C01-357F-CC05-18121CFF1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B5481-2059-C111-86FA-719F14B9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CBA8D-B1AA-1138-8C1D-6EBDA77D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82073-8512-E645-DD7C-B722DA09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678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46A3B-A5F3-5834-F2B8-B3DB8098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D5FCB-29CE-5E47-1073-269B64095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1E44E-4BFC-274C-54B1-D3D26457B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7B786-4E21-11A2-B700-1AA272E65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CA6A4-F6F8-BBB0-86F3-44F93A5FE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7514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9AA3-662B-E258-9E53-3C8C8DD4C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70753" y="836578"/>
            <a:ext cx="12733506" cy="1097503"/>
          </a:xfrm>
        </p:spPr>
        <p:txBody>
          <a:bodyPr>
            <a:normAutofit fontScale="90000"/>
          </a:bodyPr>
          <a:lstStyle/>
          <a:p>
            <a:r>
              <a:rPr lang="en-US" dirty="0"/>
              <a:t>INTELLIGENT CI/CD ORCHESTRATOR </a:t>
            </a:r>
            <a:br>
              <a:rPr lang="en-US" dirty="0"/>
            </a:br>
            <a:r>
              <a:rPr lang="en-US" sz="2700" dirty="0"/>
              <a:t>MILESTONE 2</a:t>
            </a:r>
            <a:endParaRPr lang="en-PK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64F67-835C-1FE1-B83C-770A652A6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09736"/>
            <a:ext cx="9225064" cy="274806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Group Members:</a:t>
            </a:r>
            <a:endParaRPr lang="en-US" dirty="0"/>
          </a:p>
          <a:p>
            <a:r>
              <a:rPr lang="en-US" dirty="0"/>
              <a:t>Syed Muhammad Haider Ali Naqvi (23SP-032-SE) </a:t>
            </a:r>
          </a:p>
          <a:p>
            <a:r>
              <a:rPr lang="en-US" dirty="0"/>
              <a:t>Syeda Zainab Fatima (23SP-055-SE) </a:t>
            </a:r>
          </a:p>
          <a:p>
            <a:r>
              <a:rPr lang="en-US" dirty="0"/>
              <a:t>Muddassir Ghulam Sarwar (23SP-011-SE) </a:t>
            </a:r>
          </a:p>
          <a:p>
            <a:r>
              <a:rPr lang="en-US" dirty="0"/>
              <a:t>Syed Muhammad Saqib Hassan (23SP-013-SE) </a:t>
            </a:r>
          </a:p>
          <a:p>
            <a:endParaRPr lang="en-US" dirty="0"/>
          </a:p>
          <a:p>
            <a:r>
              <a:rPr lang="en-US" b="1" dirty="0"/>
              <a:t>Supervisor:</a:t>
            </a:r>
            <a:r>
              <a:rPr lang="en-US" dirty="0"/>
              <a:t> </a:t>
            </a:r>
          </a:p>
          <a:p>
            <a:r>
              <a:rPr lang="en-US" dirty="0"/>
              <a:t>Engr. Laiba Mughal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4986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69DC-5300-7E33-DEA1-96C59743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dirty="0"/>
              <a:t>POC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2AD2-B1ED-23B2-FF64-B82780211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PK" b="1" dirty="0"/>
              <a:t>POC: Dynamic Queue Optimization — Custom Jenkins Plugin</a:t>
            </a:r>
            <a:endParaRPr lang="en-PK" dirty="0"/>
          </a:p>
          <a:p>
            <a:r>
              <a:rPr lang="en-PK" sz="2600" dirty="0"/>
              <a:t>The team was assigned to build a Jenkins plugin that automatically reorders the build queue by scoring each job using this formula:</a:t>
            </a:r>
          </a:p>
          <a:p>
            <a:r>
              <a:rPr lang="en-PK" sz="2600" b="1" dirty="0"/>
              <a:t>Score = 0.5 × Urgency + 0.3 × Dependency + 0.2 × Execution Time</a:t>
            </a:r>
            <a:endParaRPr lang="en-PK" sz="2600" dirty="0"/>
          </a:p>
          <a:p>
            <a:r>
              <a:rPr lang="en-PK" sz="2600" dirty="0"/>
              <a:t>Three components inside the plugin:</a:t>
            </a:r>
          </a:p>
          <a:p>
            <a:r>
              <a:rPr lang="en-PK" sz="2600" b="1" dirty="0" err="1"/>
              <a:t>QueueTaskDispatcher</a:t>
            </a:r>
            <a:r>
              <a:rPr lang="en-PK" sz="2600" dirty="0"/>
              <a:t> — blocks jobs whose dependencies haven't finished yet</a:t>
            </a:r>
          </a:p>
          <a:p>
            <a:r>
              <a:rPr lang="en-PK" sz="2600" b="1" dirty="0" err="1"/>
              <a:t>QueueSorter</a:t>
            </a:r>
            <a:r>
              <a:rPr lang="en-PK" sz="2600" dirty="0"/>
              <a:t> — uses a Max-Heap to always pull the highest-scored job next</a:t>
            </a:r>
          </a:p>
          <a:p>
            <a:r>
              <a:rPr lang="en-PK" sz="2600" b="1" dirty="0"/>
              <a:t>Score Formula Engine</a:t>
            </a:r>
            <a:r>
              <a:rPr lang="en-PK" sz="2600" dirty="0"/>
              <a:t> — calculates and updates scores in real time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1697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8FBD97-5368-9FBB-AF9E-47222BE74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15" y="1551989"/>
            <a:ext cx="11861970" cy="37540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BE9D8B-73D1-87B7-EF8F-ABB702107B93}"/>
              </a:ext>
            </a:extLst>
          </p:cNvPr>
          <p:cNvSpPr txBox="1"/>
          <p:nvPr/>
        </p:nvSpPr>
        <p:spPr>
          <a:xfrm>
            <a:off x="3815726" y="620876"/>
            <a:ext cx="4560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POC</a:t>
            </a:r>
            <a:r>
              <a:rPr lang="en-US" sz="1800" dirty="0"/>
              <a:t> </a:t>
            </a:r>
            <a:r>
              <a:rPr lang="en-US" sz="4000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48154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FD9C1-9BFA-D7CF-AC05-F3D615D6B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5" y="901923"/>
            <a:ext cx="10175630" cy="55798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With plugin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705D53-D231-E9A1-355A-FCB9B288C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26" y="1479303"/>
            <a:ext cx="10693959" cy="52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3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C0F8AE-1522-4DCF-12FA-680A7BFC0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127" y="838201"/>
            <a:ext cx="11576476" cy="541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1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67A7C4-8B8C-C0CA-75E6-829AAB060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1210"/>
          <a:stretch>
            <a:fillRect/>
          </a:stretch>
        </p:blipFill>
        <p:spPr>
          <a:xfrm>
            <a:off x="547545" y="547545"/>
            <a:ext cx="11088962" cy="57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7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ABAFC9-435D-E05C-E69A-5A02B7B34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006"/>
          <a:stretch>
            <a:fillRect/>
          </a:stretch>
        </p:blipFill>
        <p:spPr>
          <a:xfrm>
            <a:off x="547545" y="547545"/>
            <a:ext cx="11088962" cy="57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88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CA2DEB-ABC0-8DB4-2354-16A93B5F5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280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6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1002A-C93D-0E29-07BD-352508566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947" b="-1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47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C502-9150-E90C-82CF-8EE83E9B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POC Demonstration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EBEF-3BC4-5C23-1338-9E5918BBC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Comparison without plugin and plugin: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9CA26-0C24-BDA6-6DAC-0CDCA1B6B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51"/>
          <a:stretch>
            <a:fillRect/>
          </a:stretch>
        </p:blipFill>
        <p:spPr>
          <a:xfrm>
            <a:off x="447675" y="2724149"/>
            <a:ext cx="11477625" cy="195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1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ABCD5-8691-439B-A9D3-40D2C11F5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360" b="1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221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F31F-B7E8-B7C2-0FF5-9BEB2A64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096" y="-77821"/>
            <a:ext cx="7686472" cy="1019479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Revised Actor Use Case Diagram </a:t>
            </a:r>
            <a:endParaRPr lang="en-PK" sz="4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BF6304-D1AC-8621-0F00-3D2B5B1B9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708" y="680935"/>
            <a:ext cx="9635247" cy="61770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85625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3D55-FF1D-F122-0800-CEFF6E0A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0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Revised Actor Use Case Diagram 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E0EDD5-1621-3352-DC5D-93019A283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690873"/>
              </p:ext>
            </p:extLst>
          </p:nvPr>
        </p:nvGraphicFramePr>
        <p:xfrm>
          <a:off x="671209" y="1400681"/>
          <a:ext cx="10869483" cy="512196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07721">
                  <a:extLst>
                    <a:ext uri="{9D8B030D-6E8A-4147-A177-3AD203B41FA5}">
                      <a16:colId xmlns:a16="http://schemas.microsoft.com/office/drawing/2014/main" val="1690733947"/>
                    </a:ext>
                  </a:extLst>
                </a:gridCol>
                <a:gridCol w="3623161">
                  <a:extLst>
                    <a:ext uri="{9D8B030D-6E8A-4147-A177-3AD203B41FA5}">
                      <a16:colId xmlns:a16="http://schemas.microsoft.com/office/drawing/2014/main" val="1875187060"/>
                    </a:ext>
                  </a:extLst>
                </a:gridCol>
                <a:gridCol w="3170266">
                  <a:extLst>
                    <a:ext uri="{9D8B030D-6E8A-4147-A177-3AD203B41FA5}">
                      <a16:colId xmlns:a16="http://schemas.microsoft.com/office/drawing/2014/main" val="3072451457"/>
                    </a:ext>
                  </a:extLst>
                </a:gridCol>
                <a:gridCol w="2868335">
                  <a:extLst>
                    <a:ext uri="{9D8B030D-6E8A-4147-A177-3AD203B41FA5}">
                      <a16:colId xmlns:a16="http://schemas.microsoft.com/office/drawing/2014/main" val="3640604578"/>
                    </a:ext>
                  </a:extLst>
                </a:gridCol>
              </a:tblGrid>
              <a:tr h="6171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ID</a:t>
                      </a:r>
                      <a:endParaRPr lang="en-PK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Use case</a:t>
                      </a:r>
                      <a:endParaRPr lang="en-PK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Primary actors</a:t>
                      </a:r>
                      <a:endParaRPr lang="en-PK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Supporting actors / systems</a:t>
                      </a:r>
                      <a:endParaRPr lang="en-PK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4085564955"/>
                  </a:ext>
                </a:extLst>
              </a:tr>
              <a:tr h="5256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UC-01</a:t>
                      </a:r>
                      <a:endParaRPr lang="en-PK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Authenticate and Manage Access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Developer, DevOps Engineer, System Admin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PostgreSQL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065466225"/>
                  </a:ext>
                </a:extLst>
              </a:tr>
              <a:tr h="463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UC-02</a:t>
                      </a:r>
                      <a:endParaRPr lang="en-PK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Submit NL CI/CD Command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Developer, DevOps Engineer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LLM service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789618512"/>
                  </a:ext>
                </a:extLst>
              </a:tr>
              <a:tr h="463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UC-03</a:t>
                      </a:r>
                      <a:endParaRPr lang="en-PK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Generate and Validate YAML Pipeline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DevOps Engineer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LLM service, Jenkins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666239039"/>
                  </a:ext>
                </a:extLst>
              </a:tr>
              <a:tr h="5561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UC-04 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POC</a:t>
                      </a:r>
                      <a:endParaRPr lang="en-PK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Submit Prioritized Job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DevOps Engineer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Jenkins Controller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968199539"/>
                  </a:ext>
                </a:extLst>
              </a:tr>
              <a:tr h="5578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UC-05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POC</a:t>
                      </a:r>
                      <a:endParaRPr lang="en-PK" sz="16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Optimize Dynamic Queue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System (plugin)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Jenkins Controller, PostgreSQL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513177801"/>
                  </a:ext>
                </a:extLst>
              </a:tr>
              <a:tr h="5578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UC-06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POC</a:t>
                      </a:r>
                      <a:endParaRPr lang="en-PK" sz="16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Dispatch Job to Runner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System (plugin)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Jenkins Controller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50393070"/>
                  </a:ext>
                </a:extLst>
              </a:tr>
              <a:tr h="463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UC-07</a:t>
                      </a:r>
                      <a:endParaRPr lang="en-PK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Execute Pipeline Stages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Jenkins Controller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Git Repository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587370976"/>
                  </a:ext>
                </a:extLst>
              </a:tr>
              <a:tr h="5256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UC-08</a:t>
                      </a:r>
                      <a:endParaRPr lang="en-PK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Monitor Dashboard and Analyze Performance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Developer, DevOps Engineer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Notification Service, PostgreSQL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602401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33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2BD7-5AF7-902A-878E-3A016B1C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4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UC-04: Submit Prioritized Job</a:t>
            </a:r>
            <a:br>
              <a:rPr lang="en-US" dirty="0"/>
            </a:br>
            <a:r>
              <a:rPr lang="en-US" sz="3900" dirty="0"/>
              <a:t>Class Diagram </a:t>
            </a:r>
            <a:br>
              <a:rPr lang="en-PK" b="1" i="1" dirty="0"/>
            </a:b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09F1E6-ED1E-AA63-8BF2-661D1A6B8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503177"/>
            <a:ext cx="11468100" cy="44398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82574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9F3E-1BCE-05FA-8331-80694B551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UC-04: Submit Prioritized Job</a:t>
            </a:r>
            <a:br>
              <a:rPr lang="en-US" sz="4000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A87BEF-9983-6349-89E5-4825C16AB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436" y="1836817"/>
            <a:ext cx="11439127" cy="4083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9AD84-A2B9-E7F6-3BF2-64B42A15B47C}"/>
              </a:ext>
            </a:extLst>
          </p:cNvPr>
          <p:cNvSpPr txBox="1"/>
          <p:nvPr/>
        </p:nvSpPr>
        <p:spPr>
          <a:xfrm>
            <a:off x="3490203" y="6045899"/>
            <a:ext cx="521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(job submission form with priority and dependencies)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40761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4F1B-AC51-9891-BCD1-7C8A0DB8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UC-04: Submit Prioritized Job</a:t>
            </a:r>
            <a:br>
              <a:rPr lang="en-US" sz="4000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81EC58-8C92-5FDA-CEB3-F547213A5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6" y="1343818"/>
            <a:ext cx="11918344" cy="54959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14656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D239-1FB5-50DC-11D5-4C85A71D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UC-04: Submit Prioritized Job</a:t>
            </a:r>
            <a:br>
              <a:rPr lang="en-US" sz="4000" dirty="0"/>
            </a:br>
            <a:r>
              <a:rPr lang="en-PK" sz="3500" dirty="0"/>
              <a:t>Object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7A491E-5B18-AC81-8F8E-193A9C52E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287" y="2025457"/>
            <a:ext cx="5305425" cy="38385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591670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BA6B-CE5E-A94C-0EC7-C4B3551E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UC-05: Optimize Dynamic Queue (POC Core)</a:t>
            </a:r>
            <a:br>
              <a:rPr lang="en-PK" sz="3900" b="1" i="1" dirty="0"/>
            </a:br>
            <a:r>
              <a:rPr lang="en-US" sz="3900" dirty="0"/>
              <a:t>Class Diagram 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8FDB63-15BB-4FE7-6AA5-874000931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412" y="1290320"/>
            <a:ext cx="10289175" cy="55676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5934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CDDF-1D34-DC0C-AC5E-272F3ABE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UC-05: Optimize Dynamic Queue (POC Core)</a:t>
            </a:r>
            <a:br>
              <a:rPr lang="en-US" sz="4000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0EBD9E-57BE-70FE-5BD4-A9738A659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623" y="1679659"/>
            <a:ext cx="11854754" cy="3918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2A154-B2F8-982A-FC38-662EC301B5BE}"/>
              </a:ext>
            </a:extLst>
          </p:cNvPr>
          <p:cNvSpPr txBox="1"/>
          <p:nvPr/>
        </p:nvSpPr>
        <p:spPr>
          <a:xfrm>
            <a:off x="4219777" y="5598160"/>
            <a:ext cx="3752445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(live queue board with priority scores)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207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B161-D7BF-7546-BD2F-AA6FB0FB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UC-05: Optimize Dynamic Queue (POC Core)</a:t>
            </a:r>
            <a:br>
              <a:rPr lang="en-US" sz="4000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ACD05A-2AC1-9B0D-70D4-69FFB9EBE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" y="1690688"/>
            <a:ext cx="11978640" cy="50453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12763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0376-FF30-9174-C6C5-D1C9BA51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UC-05: Optimize Dynamic Queue (POC Core)</a:t>
            </a:r>
            <a:br>
              <a:rPr lang="en-US" sz="4000" dirty="0"/>
            </a:br>
            <a:r>
              <a:rPr lang="en-PK" sz="3500" dirty="0"/>
              <a:t>Object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4CE534-2CCD-8382-B18C-A843257B1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695" y="1690688"/>
            <a:ext cx="5588609" cy="40671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3281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AD28-8DEB-C594-529C-3271C3FE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UC-06: Dispatch Job to Runner</a:t>
            </a:r>
            <a:br>
              <a:rPr lang="en-US" dirty="0"/>
            </a:br>
            <a:r>
              <a:rPr lang="en-US" sz="3900" dirty="0"/>
              <a:t>Class Diagram 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833E37-72E3-BFB0-2BE4-7A17A2E54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06" y="1581604"/>
            <a:ext cx="11819188" cy="47480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36345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83A0-5595-8AD6-FA54-DD5F928A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UC-06: Dispatch Job to Runner</a:t>
            </a:r>
            <a:br>
              <a:rPr lang="en-US" sz="4000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F8FACD-96F3-4837-ACF3-32AA2115F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65" y="2001563"/>
            <a:ext cx="11772269" cy="3831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0D2168-01EF-2E06-079F-D2F71C2B2622}"/>
              </a:ext>
            </a:extLst>
          </p:cNvPr>
          <p:cNvSpPr txBox="1"/>
          <p:nvPr/>
        </p:nvSpPr>
        <p:spPr>
          <a:xfrm>
            <a:off x="3119958" y="5832618"/>
            <a:ext cx="609432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(executors panel showing the dispatch decision)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775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916C-B509-D503-9AC3-B23CC193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UC-06: Dispatch Job to Runner</a:t>
            </a:r>
            <a:br>
              <a:rPr lang="en-US" sz="4000" dirty="0"/>
            </a:br>
            <a:r>
              <a:rPr lang="en-PK" sz="3500" dirty="0"/>
              <a:t>Object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120945-02F8-BCA8-98F2-3A605FF11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846" y="1852541"/>
            <a:ext cx="5540307" cy="39442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24298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D5B70-E553-959D-4BC5-C0E0B1CF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-1225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500" dirty="0"/>
              <a:t>Complete Class Diagram</a:t>
            </a:r>
            <a:endParaRPr lang="en-PK" sz="35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404B5C-31BD-BBEA-C6DC-A0731DDF57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775"/>
            <a:ext cx="12253270" cy="570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51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7038-5064-BF31-01A2-F3B3215D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PK" sz="3800" dirty="0"/>
              <a:t>Algorithm 1 — Weighted Priority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633A3-9F8C-1C25-3D05-26868D86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80" y="1132522"/>
            <a:ext cx="10662920" cy="552227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PK" sz="6800" b="1" dirty="0"/>
              <a:t>Significance:</a:t>
            </a:r>
            <a:br>
              <a:rPr lang="en-PK" sz="6800" dirty="0"/>
            </a:br>
            <a:r>
              <a:rPr lang="en-PK" sz="6800" dirty="0"/>
              <a:t>Each Jenkins job gets a priority score to decide which job runs first. It replaces FIFO by giving preference to urgent and dependency-heavy jobs while preventing starvation using aging.</a:t>
            </a:r>
            <a:endParaRPr lang="en-US" sz="6800" dirty="0"/>
          </a:p>
          <a:p>
            <a:pPr marL="0" indent="0">
              <a:lnSpc>
                <a:spcPct val="120000"/>
              </a:lnSpc>
              <a:buNone/>
            </a:pPr>
            <a:r>
              <a:rPr lang="en-PK" sz="6800" b="1" dirty="0"/>
              <a:t>Pseudocode:</a:t>
            </a:r>
            <a:endParaRPr lang="en-US" sz="6800" b="1" dirty="0"/>
          </a:p>
          <a:p>
            <a:pPr marL="914400" lvl="2" indent="0">
              <a:lnSpc>
                <a:spcPct val="220000"/>
              </a:lnSpc>
              <a:buNone/>
            </a:pPr>
            <a:r>
              <a:rPr lang="en-PK" sz="6800" dirty="0"/>
              <a:t>FUNCTION </a:t>
            </a:r>
            <a:r>
              <a:rPr lang="en-PK" sz="6800" dirty="0" err="1"/>
              <a:t>calculateScore</a:t>
            </a:r>
            <a:r>
              <a:rPr lang="en-PK" sz="6800" dirty="0"/>
              <a:t>(job):</a:t>
            </a:r>
            <a:br>
              <a:rPr lang="en-PK" sz="6800" dirty="0"/>
            </a:br>
            <a:r>
              <a:rPr lang="en-PK" sz="6800" dirty="0"/>
              <a:t>    U = normalize(urgency)</a:t>
            </a:r>
            <a:br>
              <a:rPr lang="en-PK" sz="6800" dirty="0"/>
            </a:br>
            <a:r>
              <a:rPr lang="en-PK" sz="6800" dirty="0"/>
              <a:t>    D = normalize(dependency)</a:t>
            </a:r>
            <a:br>
              <a:rPr lang="en-PK" sz="6800" dirty="0"/>
            </a:br>
            <a:r>
              <a:rPr lang="en-PK" sz="6800" dirty="0"/>
              <a:t>    T = normalize(</a:t>
            </a:r>
            <a:r>
              <a:rPr lang="en-PK" sz="6800" dirty="0" err="1"/>
              <a:t>executionTime</a:t>
            </a:r>
            <a:r>
              <a:rPr lang="en-PK" sz="6800" dirty="0"/>
              <a:t>)</a:t>
            </a:r>
            <a:endParaRPr lang="en-US" sz="6800" dirty="0"/>
          </a:p>
          <a:p>
            <a:pPr marL="914400" lvl="2" indent="0">
              <a:lnSpc>
                <a:spcPct val="220000"/>
              </a:lnSpc>
              <a:buNone/>
            </a:pPr>
            <a:r>
              <a:rPr lang="en-PK" sz="6800" dirty="0"/>
              <a:t>score = (0.5*U) + (0.3*D) + (0.2*T)</a:t>
            </a:r>
            <a:endParaRPr lang="en-US" sz="6800" dirty="0"/>
          </a:p>
          <a:p>
            <a:pPr marL="914400" lvl="2" indent="0">
              <a:lnSpc>
                <a:spcPct val="220000"/>
              </a:lnSpc>
              <a:buNone/>
            </a:pPr>
            <a:r>
              <a:rPr lang="en-PK" sz="6800" dirty="0"/>
              <a:t>aging = MIN(</a:t>
            </a:r>
            <a:r>
              <a:rPr lang="en-PK" sz="6800" dirty="0" err="1"/>
              <a:t>waitTime</a:t>
            </a:r>
            <a:r>
              <a:rPr lang="en-PK" sz="6800" dirty="0"/>
              <a:t>/5min * 0.05, 0.15)</a:t>
            </a:r>
            <a:endParaRPr lang="en-US" sz="6800" dirty="0"/>
          </a:p>
          <a:p>
            <a:pPr marL="914400" lvl="2" indent="0">
              <a:lnSpc>
                <a:spcPct val="220000"/>
              </a:lnSpc>
              <a:buNone/>
            </a:pPr>
            <a:r>
              <a:rPr lang="en-PK" sz="6800" dirty="0"/>
              <a:t>RETURN score + aging</a:t>
            </a:r>
          </a:p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98D47-F566-C7D4-F272-7567D7E7F035}"/>
              </a:ext>
            </a:extLst>
          </p:cNvPr>
          <p:cNvSpPr txBox="1"/>
          <p:nvPr/>
        </p:nvSpPr>
        <p:spPr>
          <a:xfrm>
            <a:off x="7416800" y="5040675"/>
            <a:ext cx="431800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300" b="1" dirty="0"/>
              <a:t>Where:</a:t>
            </a:r>
            <a:endParaRPr lang="en-PK" sz="1300" dirty="0"/>
          </a:p>
          <a:p>
            <a:r>
              <a:rPr lang="en-PK" sz="1300" b="1" dirty="0"/>
              <a:t>U:</a:t>
            </a:r>
            <a:r>
              <a:rPr lang="en-PK" sz="1300" dirty="0"/>
              <a:t> Job urgency (50%) </a:t>
            </a:r>
          </a:p>
          <a:p>
            <a:r>
              <a:rPr lang="en-PK" sz="1300" b="1" dirty="0"/>
              <a:t>D:</a:t>
            </a:r>
            <a:r>
              <a:rPr lang="en-PK" sz="1300" dirty="0"/>
              <a:t> Dependency factor (30%) </a:t>
            </a:r>
          </a:p>
          <a:p>
            <a:r>
              <a:rPr lang="en-PK" sz="1300" b="1" dirty="0"/>
              <a:t>T:</a:t>
            </a:r>
            <a:r>
              <a:rPr lang="en-PK" sz="1300" dirty="0"/>
              <a:t> Execution time factor (20%) </a:t>
            </a:r>
          </a:p>
          <a:p>
            <a:r>
              <a:rPr lang="en-PK" sz="1300" b="1" dirty="0"/>
              <a:t>Aging:</a:t>
            </a:r>
            <a:r>
              <a:rPr lang="en-PK" sz="1300" dirty="0"/>
              <a:t> Gives waiting jobs extra priority to avoid starvation.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5481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352B-A516-D37B-239A-98D542CB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17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PK" sz="3500" dirty="0"/>
              <a:t>Algorithm 1 — Weighted Priority Scoring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8B9F2A-27B3-3C67-CD43-F8C2F5949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112127"/>
              </p:ext>
            </p:extLst>
          </p:nvPr>
        </p:nvGraphicFramePr>
        <p:xfrm>
          <a:off x="838200" y="1690688"/>
          <a:ext cx="10515600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9657380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2514580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488021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688750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97152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388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 dirty="0"/>
                        <a:t>Our Weighted 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75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/>
                        <a:t>Simple Priority Levels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483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 dirty="0"/>
                        <a:t>ML-Based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9036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4E5E0E1-D4AA-9D77-6E35-2CBC7A5F8698}"/>
              </a:ext>
            </a:extLst>
          </p:cNvPr>
          <p:cNvSpPr txBox="1"/>
          <p:nvPr/>
        </p:nvSpPr>
        <p:spPr>
          <a:xfrm>
            <a:off x="838200" y="4150768"/>
            <a:ext cx="7741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Why our approach wins:</a:t>
            </a:r>
            <a:endParaRPr lang="en-P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Faster than ML scoring (no training needed)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More accurate than simple priority levels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Handles urgency, dependencies, and waiting time together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Only extra cost is rare O(n) renormalization</a:t>
            </a:r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42696-D233-B635-7F90-08332574160A}"/>
              </a:ext>
            </a:extLst>
          </p:cNvPr>
          <p:cNvSpPr txBox="1"/>
          <p:nvPr/>
        </p:nvSpPr>
        <p:spPr>
          <a:xfrm>
            <a:off x="1031240" y="1240076"/>
            <a:ext cx="176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Comparison: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249017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8C80-7379-AF8C-F4C0-62CB4A30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PK" sz="3800" dirty="0"/>
              <a:t>Algorithm 2 — Max-Heap Based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4A02-007D-16CD-A599-1D4E9E9AB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35640" cy="4361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1700" b="1" dirty="0"/>
              <a:t>Significance:</a:t>
            </a:r>
            <a:br>
              <a:rPr lang="en-PK" sz="1700" dirty="0"/>
            </a:br>
            <a:r>
              <a:rPr lang="en-PK" sz="1700" dirty="0"/>
              <a:t>Max-Heap always selects the highest priority job in </a:t>
            </a:r>
            <a:r>
              <a:rPr lang="en-PK" sz="1700" b="1" dirty="0"/>
              <a:t>O(log n)</a:t>
            </a:r>
            <a:r>
              <a:rPr lang="en-PK" sz="1700" dirty="0"/>
              <a:t>, making scheduling faster than arrays or linked lists.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PK" sz="1800" b="1" dirty="0"/>
              <a:t>Pseudocode</a:t>
            </a:r>
            <a:r>
              <a:rPr lang="en-US" sz="1800" b="1" dirty="0"/>
              <a:t>:</a:t>
            </a:r>
            <a:endParaRPr lang="en-PK" sz="1700" b="1" dirty="0"/>
          </a:p>
          <a:p>
            <a:pPr marL="457200" lvl="1" indent="0">
              <a:buNone/>
            </a:pPr>
            <a:r>
              <a:rPr lang="en-PK" sz="1700" dirty="0"/>
              <a:t>FUNCTION insert(job):</a:t>
            </a:r>
            <a:br>
              <a:rPr lang="en-PK" sz="1700" dirty="0"/>
            </a:br>
            <a:r>
              <a:rPr lang="en-PK" sz="1700" dirty="0"/>
              <a:t>    </a:t>
            </a:r>
            <a:r>
              <a:rPr lang="en-PK" sz="1700" dirty="0" err="1"/>
              <a:t>heap.add</a:t>
            </a:r>
            <a:r>
              <a:rPr lang="en-PK" sz="1700" dirty="0"/>
              <a:t>(job)</a:t>
            </a:r>
            <a:br>
              <a:rPr lang="en-PK" sz="1700" dirty="0"/>
            </a:br>
            <a:r>
              <a:rPr lang="en-PK" sz="1700" dirty="0"/>
              <a:t>    </a:t>
            </a:r>
            <a:r>
              <a:rPr lang="en-PK" sz="1700" dirty="0" err="1"/>
              <a:t>bubbleUp</a:t>
            </a:r>
            <a:r>
              <a:rPr lang="en-PK" sz="1700" dirty="0"/>
              <a:t>()   // O(log n)</a:t>
            </a:r>
            <a:br>
              <a:rPr lang="en-PK" sz="1700" dirty="0"/>
            </a:br>
            <a:br>
              <a:rPr lang="en-PK" sz="1700" dirty="0"/>
            </a:br>
            <a:r>
              <a:rPr lang="en-PK" sz="1700" dirty="0"/>
              <a:t>FUNCTION </a:t>
            </a:r>
            <a:r>
              <a:rPr lang="en-PK" sz="1700" dirty="0" err="1"/>
              <a:t>getNext</a:t>
            </a:r>
            <a:r>
              <a:rPr lang="en-PK" sz="1700" dirty="0"/>
              <a:t>():</a:t>
            </a:r>
            <a:br>
              <a:rPr lang="en-PK" sz="1700" dirty="0"/>
            </a:br>
            <a:r>
              <a:rPr lang="en-PK" sz="1700" dirty="0"/>
              <a:t>    top = heap[0]</a:t>
            </a:r>
            <a:br>
              <a:rPr lang="en-PK" sz="1700" dirty="0"/>
            </a:br>
            <a:r>
              <a:rPr lang="en-PK" sz="1700" dirty="0"/>
              <a:t>    replace with last element</a:t>
            </a:r>
            <a:br>
              <a:rPr lang="en-PK" sz="1700" dirty="0"/>
            </a:br>
            <a:r>
              <a:rPr lang="en-PK" sz="1700" dirty="0"/>
              <a:t>    </a:t>
            </a:r>
            <a:r>
              <a:rPr lang="en-PK" sz="1700" dirty="0" err="1"/>
              <a:t>bubbleDown</a:t>
            </a:r>
            <a:r>
              <a:rPr lang="en-PK" sz="1700" dirty="0"/>
              <a:t>() // O(log n)</a:t>
            </a:r>
            <a:br>
              <a:rPr lang="en-PK" sz="1700" dirty="0"/>
            </a:br>
            <a:r>
              <a:rPr lang="en-PK" sz="1700" dirty="0"/>
              <a:t>    RETURN top</a:t>
            </a:r>
          </a:p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0A7F3-BD0B-9FA9-DF52-96484BAB5A36}"/>
              </a:ext>
            </a:extLst>
          </p:cNvPr>
          <p:cNvSpPr txBox="1"/>
          <p:nvPr/>
        </p:nvSpPr>
        <p:spPr>
          <a:xfrm>
            <a:off x="7396480" y="4291011"/>
            <a:ext cx="501904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300" b="1" dirty="0"/>
              <a:t>Where:</a:t>
            </a:r>
            <a:endParaRPr lang="en-PK" sz="1300" dirty="0"/>
          </a:p>
          <a:p>
            <a:r>
              <a:rPr lang="en-PK" sz="1300" b="1" dirty="0"/>
              <a:t>Insert:</a:t>
            </a:r>
            <a:r>
              <a:rPr lang="en-PK" sz="1300" dirty="0"/>
              <a:t> Adds a new job and maintains heap order </a:t>
            </a:r>
          </a:p>
          <a:p>
            <a:r>
              <a:rPr lang="en-PK" sz="1300" b="1" dirty="0"/>
              <a:t>Peek:</a:t>
            </a:r>
            <a:r>
              <a:rPr lang="en-PK" sz="1300" dirty="0"/>
              <a:t> Gets highest priority job instantly </a:t>
            </a:r>
          </a:p>
          <a:p>
            <a:r>
              <a:rPr lang="en-PK" sz="1300" b="1" dirty="0"/>
              <a:t>Extract:</a:t>
            </a:r>
            <a:r>
              <a:rPr lang="en-PK" sz="1300" dirty="0"/>
              <a:t> Removes and reorganizes heap </a:t>
            </a:r>
          </a:p>
          <a:p>
            <a:r>
              <a:rPr lang="en-PK" sz="1300" b="1" dirty="0"/>
              <a:t>Space:</a:t>
            </a:r>
            <a:r>
              <a:rPr lang="en-PK" sz="1300" dirty="0"/>
              <a:t> Stores all jobs in heap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82078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ABB3-3A36-52ED-5846-DAB07409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PK" sz="3800" dirty="0"/>
              <a:t>Algorithm 2 — Max-Heap Based Scheduling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829B90-0536-8E7E-CD90-380EEB1A3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79849"/>
              </p:ext>
            </p:extLst>
          </p:nvPr>
        </p:nvGraphicFramePr>
        <p:xfrm>
          <a:off x="1071880" y="2060020"/>
          <a:ext cx="10515600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0657907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597534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634284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085683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69479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Peek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Extract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787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Our Approach (Max-Heap)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316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3025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810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BST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120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E53BD2-5037-8FDF-2535-87FE2F1B17C7}"/>
              </a:ext>
            </a:extLst>
          </p:cNvPr>
          <p:cNvSpPr txBox="1"/>
          <p:nvPr/>
        </p:nvSpPr>
        <p:spPr>
          <a:xfrm>
            <a:off x="838200" y="1690688"/>
            <a:ext cx="1569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Comparison:</a:t>
            </a:r>
            <a:endParaRPr lang="en-P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4931B-36EA-8131-D3AB-15835EADB412}"/>
              </a:ext>
            </a:extLst>
          </p:cNvPr>
          <p:cNvSpPr txBox="1"/>
          <p:nvPr/>
        </p:nvSpPr>
        <p:spPr>
          <a:xfrm>
            <a:off x="1071880" y="4428648"/>
            <a:ext cx="6024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Why our approach wins:</a:t>
            </a:r>
            <a:endParaRPr lang="en-P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Faster job extraction than arrays and linked lists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Highest priority job is always available in O(1)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Efficient for large Jenkins queues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13148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FCFB-596F-AD30-9635-1CE1BE6D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PK" sz="3800" dirty="0"/>
              <a:t>Algorithm 3 — Dependency Grouping (Union-Find)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0E40D-26CE-6844-B03D-1465EEEE7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534160"/>
            <a:ext cx="10683240" cy="464280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PK" sz="1800" b="1" dirty="0"/>
              <a:t>Significance:</a:t>
            </a:r>
            <a:br>
              <a:rPr lang="en-PK" sz="1800" dirty="0"/>
            </a:br>
            <a:r>
              <a:rPr lang="en-PK" sz="1800" dirty="0"/>
              <a:t>Union-Find groups dependent jobs so a job runs only when its required dependencies are handled.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PK" sz="1800" b="1" dirty="0"/>
              <a:t>Pseudocode:</a:t>
            </a:r>
            <a:endParaRPr lang="en-PK" sz="18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PK" sz="1800" dirty="0"/>
              <a:t>FUNCTION </a:t>
            </a:r>
            <a:r>
              <a:rPr lang="en-PK" sz="1800" dirty="0" err="1"/>
              <a:t>groupDependencies</a:t>
            </a:r>
            <a:r>
              <a:rPr lang="en-PK" sz="1800" dirty="0"/>
              <a:t>(jobs, edges):</a:t>
            </a:r>
            <a:br>
              <a:rPr lang="en-PK" sz="1800" dirty="0"/>
            </a:br>
            <a:br>
              <a:rPr lang="en-PK" sz="1800" dirty="0"/>
            </a:br>
            <a:r>
              <a:rPr lang="en-PK" sz="1800" dirty="0"/>
              <a:t>    FOR each job:</a:t>
            </a:r>
            <a:br>
              <a:rPr lang="en-PK" sz="1800" dirty="0"/>
            </a:br>
            <a:r>
              <a:rPr lang="en-PK" sz="1800" dirty="0"/>
              <a:t>        </a:t>
            </a:r>
            <a:r>
              <a:rPr lang="en-PK" sz="1800" dirty="0" err="1"/>
              <a:t>makeSet</a:t>
            </a:r>
            <a:r>
              <a:rPr lang="en-PK" sz="1800" dirty="0"/>
              <a:t>(job)</a:t>
            </a:r>
            <a:br>
              <a:rPr lang="en-PK" sz="1800" dirty="0"/>
            </a:br>
            <a:br>
              <a:rPr lang="en-PK" sz="1800" dirty="0"/>
            </a:br>
            <a:r>
              <a:rPr lang="en-PK" sz="1800" dirty="0"/>
              <a:t>    FOR each (</a:t>
            </a:r>
            <a:r>
              <a:rPr lang="en-PK" sz="1800" dirty="0" err="1"/>
              <a:t>a,b</a:t>
            </a:r>
            <a:r>
              <a:rPr lang="en-PK" sz="1800" dirty="0"/>
              <a:t>) in edges:</a:t>
            </a:r>
            <a:br>
              <a:rPr lang="en-PK" sz="1800" dirty="0"/>
            </a:br>
            <a:r>
              <a:rPr lang="en-PK" sz="1800" dirty="0"/>
              <a:t>        union(</a:t>
            </a:r>
            <a:r>
              <a:rPr lang="en-PK" sz="1800" dirty="0" err="1"/>
              <a:t>a,b</a:t>
            </a:r>
            <a:r>
              <a:rPr lang="en-PK" sz="1800" dirty="0"/>
              <a:t>)</a:t>
            </a:r>
            <a:br>
              <a:rPr lang="en-PK" sz="1800" dirty="0"/>
            </a:br>
            <a:br>
              <a:rPr lang="en-PK" sz="1800" dirty="0"/>
            </a:br>
            <a:r>
              <a:rPr lang="en-PK" sz="1800" dirty="0"/>
              <a:t>    FOR each job:</a:t>
            </a:r>
            <a:br>
              <a:rPr lang="en-PK" sz="1800" dirty="0"/>
            </a:br>
            <a:r>
              <a:rPr lang="en-PK" sz="1800" dirty="0"/>
              <a:t>        group = find(job)</a:t>
            </a:r>
            <a:br>
              <a:rPr lang="en-PK" sz="1800" dirty="0"/>
            </a:br>
            <a:r>
              <a:rPr lang="en-PK" sz="1800" dirty="0"/>
              <a:t>        </a:t>
            </a:r>
            <a:r>
              <a:rPr lang="en-PK" sz="1800" dirty="0" err="1"/>
              <a:t>addToGroup</a:t>
            </a:r>
            <a:r>
              <a:rPr lang="en-PK" sz="1800" dirty="0"/>
              <a:t>(group, job)</a:t>
            </a:r>
            <a:br>
              <a:rPr lang="en-PK" sz="1800" dirty="0"/>
            </a:br>
            <a:br>
              <a:rPr lang="en-PK" sz="1800" dirty="0"/>
            </a:br>
            <a:r>
              <a:rPr lang="en-PK" sz="1800" dirty="0"/>
              <a:t>    RETURN groups</a:t>
            </a:r>
          </a:p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A5544-4F6F-7DE8-CEDC-81DE8C12B446}"/>
              </a:ext>
            </a:extLst>
          </p:cNvPr>
          <p:cNvSpPr txBox="1"/>
          <p:nvPr/>
        </p:nvSpPr>
        <p:spPr>
          <a:xfrm>
            <a:off x="7203440" y="4807357"/>
            <a:ext cx="366776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300" b="1" dirty="0"/>
              <a:t>Where:</a:t>
            </a:r>
            <a:endParaRPr lang="en-PK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1300" b="1" dirty="0" err="1"/>
              <a:t>makeSet</a:t>
            </a:r>
            <a:r>
              <a:rPr lang="en-PK" sz="1300" b="1" dirty="0"/>
              <a:t>:</a:t>
            </a:r>
            <a:r>
              <a:rPr lang="en-PK" sz="1300" dirty="0"/>
              <a:t> Creates separate job groups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1300" b="1" dirty="0"/>
              <a:t>union:</a:t>
            </a:r>
            <a:r>
              <a:rPr lang="en-PK" sz="1300" dirty="0"/>
              <a:t> Combines dependent jobs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1300" b="1" dirty="0"/>
              <a:t>find:</a:t>
            </a:r>
            <a:r>
              <a:rPr lang="en-PK" sz="1300" dirty="0"/>
              <a:t> Identifies job group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1300" b="1" dirty="0"/>
              <a:t>Groups:</a:t>
            </a:r>
            <a:r>
              <a:rPr lang="en-PK" sz="1300" dirty="0"/>
              <a:t> Help prevent dependency conflicts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14253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6098-02FB-4108-F43A-CBD04436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PK" sz="3800" dirty="0"/>
              <a:t>Algorithm 3 — Dependency Grouping (Union-Find)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250C6B-3B0D-1072-9387-16DE4F22A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901984"/>
              </p:ext>
            </p:extLst>
          </p:nvPr>
        </p:nvGraphicFramePr>
        <p:xfrm>
          <a:off x="944880" y="2111603"/>
          <a:ext cx="10515600" cy="2011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249074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368692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6157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48554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5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Our Approach (Union-Find)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 + mα(n))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Very 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572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BFS/DFS 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 + 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O(n+m)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More memory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00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No 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Dependency issues possible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8756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325188-E235-E12C-00EB-348B107A52E7}"/>
              </a:ext>
            </a:extLst>
          </p:cNvPr>
          <p:cNvSpPr txBox="1"/>
          <p:nvPr/>
        </p:nvSpPr>
        <p:spPr>
          <a:xfrm>
            <a:off x="944880" y="15983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Comparison:</a:t>
            </a:r>
            <a:endParaRPr lang="en-P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F01AF-FAC6-F0D2-B786-8BD41CF1FBC6}"/>
              </a:ext>
            </a:extLst>
          </p:cNvPr>
          <p:cNvSpPr txBox="1"/>
          <p:nvPr/>
        </p:nvSpPr>
        <p:spPr>
          <a:xfrm>
            <a:off x="1158240" y="4429760"/>
            <a:ext cx="4937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Why our approach wins:</a:t>
            </a:r>
            <a:endParaRPr lang="en-P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Faster dependency checking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Uses less memory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Prevents invalid job execution order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30659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0959-89DA-EF57-6963-2BD32A64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82245"/>
            <a:ext cx="11120120" cy="1325563"/>
          </a:xfrm>
        </p:spPr>
        <p:txBody>
          <a:bodyPr>
            <a:normAutofit/>
          </a:bodyPr>
          <a:lstStyle/>
          <a:p>
            <a:pPr algn="ctr"/>
            <a:r>
              <a:rPr lang="en-PK" sz="3500" dirty="0"/>
              <a:t>Algorithm 4 — Execution Time Estimation (Top-k Similarity)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D5F0-429E-5A3C-1CFA-BD8C6AB34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" y="1507808"/>
            <a:ext cx="10581640" cy="466915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PK" sz="1700" b="1" dirty="0"/>
              <a:t>Significance:</a:t>
            </a:r>
            <a:br>
              <a:rPr lang="en-PK" sz="1700" dirty="0"/>
            </a:br>
            <a:r>
              <a:rPr lang="en-PK" sz="1700" dirty="0"/>
              <a:t>Predicts execution time using similar past jobs, improving the scheduling score.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PK" sz="1700" b="1" dirty="0"/>
              <a:t>Pseudocode:</a:t>
            </a:r>
            <a:endParaRPr lang="en-PK" sz="17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PK" sz="1700" dirty="0"/>
              <a:t>FUNCTION </a:t>
            </a:r>
            <a:r>
              <a:rPr lang="en-PK" sz="1700" dirty="0" err="1"/>
              <a:t>estimateTime</a:t>
            </a:r>
            <a:r>
              <a:rPr lang="en-PK" sz="1700" dirty="0"/>
              <a:t>(</a:t>
            </a:r>
            <a:r>
              <a:rPr lang="en-PK" sz="1700" dirty="0" err="1"/>
              <a:t>newJob</a:t>
            </a:r>
            <a:r>
              <a:rPr lang="en-PK" sz="1700" dirty="0"/>
              <a:t>, history):</a:t>
            </a:r>
            <a:br>
              <a:rPr lang="en-PK" sz="1700" dirty="0"/>
            </a:br>
            <a:br>
              <a:rPr lang="en-PK" sz="1700" dirty="0"/>
            </a:br>
            <a:r>
              <a:rPr lang="en-PK" sz="1700" dirty="0"/>
              <a:t>    FOR each </a:t>
            </a:r>
            <a:r>
              <a:rPr lang="en-PK" sz="1700" dirty="0" err="1"/>
              <a:t>pastJob</a:t>
            </a:r>
            <a:r>
              <a:rPr lang="en-PK" sz="1700" dirty="0"/>
              <a:t>:</a:t>
            </a:r>
            <a:br>
              <a:rPr lang="en-PK" sz="1700" dirty="0"/>
            </a:br>
            <a:r>
              <a:rPr lang="en-PK" sz="1700" dirty="0"/>
              <a:t>        similarity = compare(features)</a:t>
            </a:r>
            <a:br>
              <a:rPr lang="en-PK" sz="1700" dirty="0"/>
            </a:br>
            <a:r>
              <a:rPr lang="en-PK" sz="1700" dirty="0"/>
              <a:t>        store(similarity, duration)</a:t>
            </a:r>
            <a:br>
              <a:rPr lang="en-PK" sz="1700" dirty="0"/>
            </a:br>
            <a:br>
              <a:rPr lang="en-PK" sz="1700" dirty="0"/>
            </a:br>
            <a:r>
              <a:rPr lang="en-PK" sz="1700" dirty="0"/>
              <a:t>    </a:t>
            </a:r>
            <a:r>
              <a:rPr lang="en-PK" sz="1700" dirty="0" err="1"/>
              <a:t>topK</a:t>
            </a:r>
            <a:r>
              <a:rPr lang="en-PK" sz="1700" dirty="0"/>
              <a:t> = </a:t>
            </a:r>
            <a:r>
              <a:rPr lang="en-PK" sz="1700" dirty="0" err="1"/>
              <a:t>getTopK</a:t>
            </a:r>
            <a:r>
              <a:rPr lang="en-PK" sz="1700" dirty="0"/>
              <a:t>(k=5)</a:t>
            </a:r>
            <a:br>
              <a:rPr lang="en-PK" sz="1700" dirty="0"/>
            </a:br>
            <a:br>
              <a:rPr lang="en-PK" sz="1700" dirty="0"/>
            </a:br>
            <a:r>
              <a:rPr lang="en-PK" sz="1700" dirty="0"/>
              <a:t>    RETURN </a:t>
            </a:r>
            <a:r>
              <a:rPr lang="en-PK" sz="1700" dirty="0" err="1"/>
              <a:t>weightedAverage</a:t>
            </a:r>
            <a:r>
              <a:rPr lang="en-PK" sz="1700" dirty="0"/>
              <a:t>(</a:t>
            </a:r>
            <a:r>
              <a:rPr lang="en-PK" sz="1700" dirty="0" err="1"/>
              <a:t>topK</a:t>
            </a:r>
            <a:r>
              <a:rPr lang="en-PK" sz="1700" dirty="0"/>
              <a:t>)</a:t>
            </a:r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D943A-7A80-57FE-2C2D-3FEC9A953ED3}"/>
              </a:ext>
            </a:extLst>
          </p:cNvPr>
          <p:cNvSpPr txBox="1"/>
          <p:nvPr/>
        </p:nvSpPr>
        <p:spPr>
          <a:xfrm>
            <a:off x="7630160" y="4180641"/>
            <a:ext cx="330802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1300" b="1" dirty="0"/>
              <a:t>Where:</a:t>
            </a:r>
            <a:endParaRPr lang="en-PK" sz="1300" dirty="0"/>
          </a:p>
          <a:p>
            <a:r>
              <a:rPr lang="en-PK" sz="1300" b="1" dirty="0"/>
              <a:t>Similarity:</a:t>
            </a:r>
            <a:r>
              <a:rPr lang="en-PK" sz="1300" dirty="0"/>
              <a:t> Finds related previous jobs </a:t>
            </a:r>
          </a:p>
          <a:p>
            <a:r>
              <a:rPr lang="en-PK" sz="1300" b="1" dirty="0"/>
              <a:t>Top-k:</a:t>
            </a:r>
            <a:r>
              <a:rPr lang="en-PK" sz="1300" dirty="0"/>
              <a:t> Selects closest matches </a:t>
            </a:r>
          </a:p>
          <a:p>
            <a:r>
              <a:rPr lang="en-PK" sz="1300" b="1" dirty="0"/>
              <a:t>Weighted Average:</a:t>
            </a:r>
            <a:r>
              <a:rPr lang="en-PK" sz="1300" dirty="0"/>
              <a:t> Predicts execution time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67269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81DD-D37C-635A-5544-90897344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05"/>
            <a:ext cx="10835640" cy="1325563"/>
          </a:xfrm>
        </p:spPr>
        <p:txBody>
          <a:bodyPr>
            <a:normAutofit/>
          </a:bodyPr>
          <a:lstStyle/>
          <a:p>
            <a:r>
              <a:rPr lang="en-PK" sz="3500" dirty="0"/>
              <a:t>Algorithm 4 — Execution Time Estimation (Top-k Similarity)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227C21-1786-4694-0745-891455E20D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040108"/>
              </p:ext>
            </p:extLst>
          </p:nvPr>
        </p:nvGraphicFramePr>
        <p:xfrm>
          <a:off x="838200" y="1974374"/>
          <a:ext cx="10515600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1744631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556978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026237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899695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89723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65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Our Approach (Top-k Similarity)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O(h·f)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O(h·f)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O(h·f)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09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Simple 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83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Last Run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18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ML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 Predict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High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High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4296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A2CD85-B65E-C941-63ED-6EEEEBD2881C}"/>
              </a:ext>
            </a:extLst>
          </p:cNvPr>
          <p:cNvSpPr txBox="1"/>
          <p:nvPr/>
        </p:nvSpPr>
        <p:spPr>
          <a:xfrm>
            <a:off x="838200" y="14617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Comparison:</a:t>
            </a:r>
            <a:endParaRPr lang="en-P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C0517-A2CE-CE04-5795-8680357A3127}"/>
              </a:ext>
            </a:extLst>
          </p:cNvPr>
          <p:cNvSpPr txBox="1"/>
          <p:nvPr/>
        </p:nvSpPr>
        <p:spPr>
          <a:xfrm>
            <a:off x="838200" y="4358640"/>
            <a:ext cx="5679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Why our approach wins:</a:t>
            </a:r>
            <a:endParaRPr lang="en-P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No model training required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More accurate than simple average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Uses past job </a:t>
            </a:r>
            <a:r>
              <a:rPr lang="en-PK" dirty="0" err="1"/>
              <a:t>behavior</a:t>
            </a:r>
            <a:r>
              <a:rPr lang="en-PK" dirty="0"/>
              <a:t> for prediction </a:t>
            </a:r>
          </a:p>
          <a:p>
            <a:r>
              <a:rPr lang="en-US" b="1" dirty="0"/>
              <a:t>       </a:t>
            </a:r>
            <a:r>
              <a:rPr lang="en-PK" b="1" dirty="0"/>
              <a:t>h = history size, f = feature count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6988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1314</Words>
  <Application>Microsoft Office PowerPoint</Application>
  <PresentationFormat>Widescreen</PresentationFormat>
  <Paragraphs>230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Times New Roman</vt:lpstr>
      <vt:lpstr>Office Theme</vt:lpstr>
      <vt:lpstr>INTELLIGENT CI/CD ORCHESTRATOR  MILESTONE 2</vt:lpstr>
      <vt:lpstr>POC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POC Demonstration</vt:lpstr>
      <vt:lpstr>PowerPoint Presentation</vt:lpstr>
      <vt:lpstr>Revised Actor Use Case Diagram </vt:lpstr>
      <vt:lpstr>Revised Actor Use Case Diagram </vt:lpstr>
      <vt:lpstr>UC-04: Submit Prioritized Job Class Diagram   </vt:lpstr>
      <vt:lpstr>UC-04: Submit Prioritized Job Frontend GUI</vt:lpstr>
      <vt:lpstr>UC-04: Submit Prioritized Job Sequence Diagram</vt:lpstr>
      <vt:lpstr>UC-04: Submit Prioritized Job Object Diagram</vt:lpstr>
      <vt:lpstr>UC-05: Optimize Dynamic Queue (POC Core) Class Diagram  </vt:lpstr>
      <vt:lpstr>UC-05: Optimize Dynamic Queue (POC Core) Frontend GUI</vt:lpstr>
      <vt:lpstr>UC-05: Optimize Dynamic Queue (POC Core) Sequence Diagram</vt:lpstr>
      <vt:lpstr>UC-05: Optimize Dynamic Queue (POC Core) Object Diagram</vt:lpstr>
      <vt:lpstr>UC-06: Dispatch Job to Runner Class Diagram  </vt:lpstr>
      <vt:lpstr>UC-06: Dispatch Job to Runner Frontend GUI</vt:lpstr>
      <vt:lpstr>UC-06: Dispatch Job to Runner Object Diagram</vt:lpstr>
      <vt:lpstr>Complete Class Diagram</vt:lpstr>
      <vt:lpstr>Algorithm 1 — Weighted Priority Scoring</vt:lpstr>
      <vt:lpstr>Algorithm 1 — Weighted Priority Scoring</vt:lpstr>
      <vt:lpstr>Algorithm 2 — Max-Heap Based Scheduling</vt:lpstr>
      <vt:lpstr>Algorithm 2 — Max-Heap Based Scheduling</vt:lpstr>
      <vt:lpstr>Algorithm 3 — Dependency Grouping (Union-Find)</vt:lpstr>
      <vt:lpstr>Algorithm 3 — Dependency Grouping (Union-Find)</vt:lpstr>
      <vt:lpstr>Algorithm 4 — Execution Time Estimation (Top-k Similarity)</vt:lpstr>
      <vt:lpstr>Algorithm 4 — Execution Time Estimation (Top-k Similarity)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23SP-055-SE Syeda Zainab Fatima</dc:creator>
  <cp:lastModifiedBy>23SP-032-SE Syed Muhammad Haider Ali Naqvi</cp:lastModifiedBy>
  <cp:revision>10</cp:revision>
  <dcterms:created xsi:type="dcterms:W3CDTF">2026-06-14T09:09:39Z</dcterms:created>
  <dcterms:modified xsi:type="dcterms:W3CDTF">2026-06-15T08:42:44Z</dcterms:modified>
</cp:coreProperties>
</file>